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4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5120640"/>
            <a:ext cx="10972800" cy="3657600"/>
          </a:xfrm>
          <a:prstGeom prst="ellipse">
            <a:avLst/>
          </a:prstGeom>
          <a:solidFill>
            <a:srgbClr val="4A7A2E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657600" y="5486400"/>
            <a:ext cx="11887200" cy="3657600"/>
          </a:xfrm>
          <a:prstGeom prst="ellipse">
            <a:avLst/>
          </a:prstGeom>
          <a:solidFill>
            <a:srgbClr val="2E5A18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784080" y="731520"/>
            <a:ext cx="1280160" cy="1280160"/>
          </a:xfrm>
          <a:prstGeom prst="ellipse">
            <a:avLst/>
          </a:prstGeom>
          <a:solidFill>
            <a:srgbClr val="F5C842">
              <a:alpha val="9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288268" y="1371600"/>
            <a:ext cx="320040" cy="0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5177" y="1982617"/>
            <a:ext cx="226302" cy="226302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24160" y="2235708"/>
            <a:ext cx="0" cy="320040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3143" y="1982617"/>
            <a:ext cx="-226302" cy="226302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60052" y="1371600"/>
            <a:ext cx="-320040" cy="0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13143" y="760583"/>
            <a:ext cx="-226302" cy="-226302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24160" y="507492"/>
            <a:ext cx="0" cy="-320040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035177" y="760583"/>
            <a:ext cx="226302" cy="-226302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5852160"/>
            <a:ext cx="0" cy="457200"/>
          </a:xfrm>
          <a:prstGeom prst="line">
            <a:avLst/>
          </a:prstGeom>
          <a:noFill/>
          <a:ln w="25400">
            <a:solidFill>
              <a:srgbClr val="8BB86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5650992"/>
            <a:ext cx="219456" cy="219456"/>
          </a:xfrm>
          <a:prstGeom prst="ellipse">
            <a:avLst/>
          </a:prstGeom>
          <a:solidFill>
            <a:srgbClr val="C85C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554480" y="5989320"/>
            <a:ext cx="0" cy="457200"/>
          </a:xfrm>
          <a:prstGeom prst="line">
            <a:avLst/>
          </a:prstGeom>
          <a:noFill/>
          <a:ln w="25400">
            <a:solidFill>
              <a:srgbClr val="8BB86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44752" y="5788152"/>
            <a:ext cx="219456" cy="219456"/>
          </a:xfrm>
          <a:prstGeom prst="ellipse">
            <a:avLst/>
          </a:prstGeom>
          <a:solidFill>
            <a:srgbClr val="F5C4D1"/>
          </a:solidFill>
          <a:ln/>
        </p:spPr>
      </p:sp>
      <p:sp>
        <p:nvSpPr>
          <p:cNvPr id="17" name="Shape 15"/>
          <p:cNvSpPr/>
          <p:nvPr/>
        </p:nvSpPr>
        <p:spPr>
          <a:xfrm>
            <a:off x="2011680" y="5897880"/>
            <a:ext cx="0" cy="457200"/>
          </a:xfrm>
          <a:prstGeom prst="line">
            <a:avLst/>
          </a:prstGeom>
          <a:noFill/>
          <a:ln w="25400">
            <a:solidFill>
              <a:srgbClr val="8BB86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1952" y="5696712"/>
            <a:ext cx="219456" cy="219456"/>
          </a:xfrm>
          <a:prstGeom prst="ellipse">
            <a:avLst/>
          </a:prstGeom>
          <a:solidFill>
            <a:srgbClr val="F5C842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12801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🌱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777240" y="228600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IEPrep</a:t>
            </a:r>
            <a:endParaRPr lang="en-US" sz="7600" dirty="0"/>
          </a:p>
        </p:txBody>
      </p:sp>
      <p:sp>
        <p:nvSpPr>
          <p:cNvPr id="21" name="Text 19"/>
          <p:cNvSpPr/>
          <p:nvPr/>
        </p:nvSpPr>
        <p:spPr>
          <a:xfrm>
            <a:off x="822960" y="361188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6E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Differentiated lesson planning &amp; IEP tracking for special education teachers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" y="4434840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B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once. Differentiate for every learner. Walk into class with slides ready.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C8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Powered by Claude  ·  AI for Education Hackathon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4A7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7A5C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7589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3D2E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Special-ed teachers spend nights rebuilding the same lesson for every learner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12648" y="2779776"/>
            <a:ext cx="7772400" cy="1078992"/>
          </a:xfrm>
          <a:prstGeom prst="roundRect">
            <a:avLst>
              <a:gd name="adj" fmla="val 10169"/>
            </a:avLst>
          </a:prstGeom>
          <a:solidFill>
            <a:srgbClr val="D9C9A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97480"/>
            <a:ext cx="7772400" cy="1078992"/>
          </a:xfrm>
          <a:prstGeom prst="roundRect">
            <a:avLst>
              <a:gd name="adj" fmla="val 10169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88920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📚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645920" y="280720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class, many levels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3154680"/>
            <a:ext cx="6537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8th-grade room may hold readers at a 3rd-grade level and a 6th-grade level, across 5+ disability categories — all needing the same standard taught differently.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" y="3986784"/>
            <a:ext cx="7772400" cy="1078992"/>
          </a:xfrm>
          <a:prstGeom prst="roundRect">
            <a:avLst>
              <a:gd name="adj" fmla="val 10169"/>
            </a:avLst>
          </a:prstGeom>
          <a:solidFill>
            <a:srgbClr val="D9C9A8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3904488"/>
            <a:ext cx="7772400" cy="1078992"/>
          </a:xfrm>
          <a:prstGeom prst="roundRect">
            <a:avLst>
              <a:gd name="adj" fmla="val 10169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995928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📝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645920" y="401421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IEP paperwork never stops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4361688"/>
            <a:ext cx="6537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Goals, accommodations, and trial-by-trial progress data must be tracked for every student and woven into daily instruction.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2648" y="5193792"/>
            <a:ext cx="7772400" cy="1078992"/>
          </a:xfrm>
          <a:prstGeom prst="roundRect">
            <a:avLst>
              <a:gd name="adj" fmla="val 10169"/>
            </a:avLst>
          </a:prstGeom>
          <a:solidFill>
            <a:srgbClr val="D9C9A8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111496"/>
            <a:ext cx="7772400" cy="1078992"/>
          </a:xfrm>
          <a:prstGeom prst="roundRect">
            <a:avLst>
              <a:gd name="adj" fmla="val 10169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202936"/>
            <a:ext cx="822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⏰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645920" y="52212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lost to busywork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5568696"/>
            <a:ext cx="6537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hand-build lesson plans, then rebuild them again as Smart Board slides — time that should go to students.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705088" y="1453896"/>
            <a:ext cx="2971800" cy="4937760"/>
          </a:xfrm>
          <a:prstGeom prst="roundRect">
            <a:avLst>
              <a:gd name="adj" fmla="val 3692"/>
            </a:avLst>
          </a:prstGeom>
          <a:solidFill>
            <a:srgbClr val="2E5A18"/>
          </a:solidFill>
          <a:ln/>
        </p:spPr>
      </p:sp>
      <p:sp>
        <p:nvSpPr>
          <p:cNvPr id="21" name="Shape 19"/>
          <p:cNvSpPr/>
          <p:nvPr/>
        </p:nvSpPr>
        <p:spPr>
          <a:xfrm>
            <a:off x="8641080" y="1371600"/>
            <a:ext cx="2971800" cy="4937760"/>
          </a:xfrm>
          <a:prstGeom prst="roundRect">
            <a:avLst>
              <a:gd name="adj" fmla="val 3692"/>
            </a:avLst>
          </a:prstGeom>
          <a:solidFill>
            <a:srgbClr val="4A7A2E"/>
          </a:solidFill>
          <a:ln w="15875">
            <a:solidFill>
              <a:srgbClr val="2E5A1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2396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6EB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823960" y="214884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7+ hrs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8823960" y="2807208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D6E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per week, much of it differentiation &amp; slides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823960" y="35661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5–7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8823960" y="4224528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D6E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disability categories in one inclusion classroom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823960" y="49834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plan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8823960" y="5641848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D6E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to reach every learner, every day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4A7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7A5C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3D2E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IEPrep turns one standard into a full week of differentiated, ready-to-teach instruction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2648" y="2414016"/>
            <a:ext cx="5285232" cy="1828800"/>
          </a:xfrm>
          <a:prstGeom prst="roundRect">
            <a:avLst>
              <a:gd name="adj" fmla="val 6000"/>
            </a:avLst>
          </a:prstGeom>
          <a:solidFill>
            <a:srgbClr val="D9C9A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331720"/>
            <a:ext cx="5285232" cy="1828800"/>
          </a:xfrm>
          <a:prstGeom prst="roundRect">
            <a:avLst>
              <a:gd name="adj" fmla="val 6000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532888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📖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691640" y="25603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Differentiated lesson plans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3044952"/>
            <a:ext cx="404164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up to 4 Virginia SOLs and up to 10 disability categories. AI spirals the standards across daily sessions, tailored to each learner.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19088" y="2414016"/>
            <a:ext cx="5285232" cy="1828800"/>
          </a:xfrm>
          <a:prstGeom prst="roundRect">
            <a:avLst>
              <a:gd name="adj" fmla="val 6000"/>
            </a:avLst>
          </a:prstGeom>
          <a:solidFill>
            <a:srgbClr val="D9C9A8"/>
          </a:solidFill>
          <a:ln/>
        </p:spPr>
      </p:sp>
      <p:sp>
        <p:nvSpPr>
          <p:cNvPr id="11" name="Shape 9"/>
          <p:cNvSpPr/>
          <p:nvPr/>
        </p:nvSpPr>
        <p:spPr>
          <a:xfrm>
            <a:off x="6355080" y="2331720"/>
            <a:ext cx="5285232" cy="1828800"/>
          </a:xfrm>
          <a:prstGeom prst="roundRect">
            <a:avLst>
              <a:gd name="adj" fmla="val 6000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2532888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🖥️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98080" y="25603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Board slide decks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498080" y="3044952"/>
            <a:ext cx="404164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day's plan becomes a classroom-ready deck: hooks, 'I Can' targets, WICOR agenda, interactive quizzes, exit tickets — in 5 visual themes.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" y="4425696"/>
            <a:ext cx="5285232" cy="1828800"/>
          </a:xfrm>
          <a:prstGeom prst="roundRect">
            <a:avLst>
              <a:gd name="adj" fmla="val 6000"/>
            </a:avLst>
          </a:prstGeom>
          <a:solidFill>
            <a:srgbClr val="D9C9A8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4343400"/>
            <a:ext cx="5285232" cy="1828800"/>
          </a:xfrm>
          <a:prstGeom prst="roundRect">
            <a:avLst>
              <a:gd name="adj" fmla="val 6000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544568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🎯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691640" y="45720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IEP goal tracking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91640" y="5056632"/>
            <a:ext cx="404164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trial data (1/4 → 4/4), watch progress levels, and get AI instructional recommendations grounded in each student's trend.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9088" y="4425696"/>
            <a:ext cx="5285232" cy="1828800"/>
          </a:xfrm>
          <a:prstGeom prst="roundRect">
            <a:avLst>
              <a:gd name="adj" fmla="val 6000"/>
            </a:avLst>
          </a:prstGeom>
          <a:solidFill>
            <a:srgbClr val="D9C9A8"/>
          </a:solidFill>
          <a:ln/>
        </p:spPr>
      </p:sp>
      <p:sp>
        <p:nvSpPr>
          <p:cNvPr id="21" name="Shape 19"/>
          <p:cNvSpPr/>
          <p:nvPr/>
        </p:nvSpPr>
        <p:spPr>
          <a:xfrm>
            <a:off x="6355080" y="4343400"/>
            <a:ext cx="5285232" cy="1828800"/>
          </a:xfrm>
          <a:prstGeom prst="roundRect">
            <a:avLst>
              <a:gd name="adj" fmla="val 6000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56248" y="4544568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🏫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7498080" y="45720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around classes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498080" y="5056632"/>
            <a:ext cx="404164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class, add students once, and generate a single cohesive lesson that differentiates for the whole room.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4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C8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 ·  HOW AI IS USED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is the lesson designer — not a chatbot bolted 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purpose-built AI engines, each given the full teaching context — standards, disabilities, accommodations, and live IEP data.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12648" y="2596896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2E5A1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1460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FFDF7"/>
          </a:solidFill>
          <a:ln w="15875">
            <a:solidFill>
              <a:srgbClr val="4A7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9748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🧠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 designer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114800"/>
            <a:ext cx="3154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 SOLs, every disability category, accommodations, and student notes — then spirals standards into day-by-day sessions with tiered activities. Streamed live with adaptive reasoning.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596896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2E5A18"/>
          </a:solidFill>
          <a:ln/>
        </p:spPr>
      </p:sp>
      <p:sp>
        <p:nvSpPr>
          <p:cNvPr id="11" name="Shape 9"/>
          <p:cNvSpPr/>
          <p:nvPr/>
        </p:nvSpPr>
        <p:spPr>
          <a:xfrm>
            <a:off x="4325112" y="251460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FFDF7"/>
          </a:solidFill>
          <a:ln w="15875">
            <a:solidFill>
              <a:srgbClr val="4A7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07992" y="269748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🎬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4553712" y="361188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Slide author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3712" y="4114800"/>
            <a:ext cx="3154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Re-reads a single day and re-imagines it as a classroom deck — choosing the right slide type (hook, quiz, exit ticket) and writing student-facing language 1–2 grades below level.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65592" y="2596896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2E5A18"/>
          </a:solidFill>
          <a:ln/>
        </p:spPr>
      </p:sp>
      <p:sp>
        <p:nvSpPr>
          <p:cNvPr id="16" name="Shape 14"/>
          <p:cNvSpPr/>
          <p:nvPr/>
        </p:nvSpPr>
        <p:spPr>
          <a:xfrm>
            <a:off x="8101584" y="251460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FFDF7"/>
          </a:solidFill>
          <a:ln w="15875">
            <a:solidFill>
              <a:srgbClr val="4A7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4464" y="269748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📈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8330184" y="361188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analyst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30184" y="4114800"/>
            <a:ext cx="3154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each IEP goal's trial trend and returns specific instructional moves, focus areas, and a parent-communication note — turning raw data into next steps.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5C8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on Claude Opus 4.8 with adaptive thinking · streaming responses · context-aware prompts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4A7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7A5C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MAKES IT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'last mile' of AI lesson planning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AI tools stop at a text plan. IEPrep follows the teacher all the way to the Smart Board.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" y="2688336"/>
            <a:ext cx="5349240" cy="3566160"/>
          </a:xfrm>
          <a:prstGeom prst="roundRect">
            <a:avLst>
              <a:gd name="adj" fmla="val 3077"/>
            </a:avLst>
          </a:prstGeom>
          <a:solidFill>
            <a:srgbClr val="D9C9A8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606040"/>
            <a:ext cx="5349240" cy="3566160"/>
          </a:xfrm>
          <a:prstGeom prst="roundRect">
            <a:avLst>
              <a:gd name="adj" fmla="val 3077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889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Typical AI planner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C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3346704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generic plan as a wall of text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0416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C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4005072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specific disabilities &amp; IEP goals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7000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C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66344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still builds slides by hand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358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5C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321808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 of student progress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27648" y="2688336"/>
            <a:ext cx="5349240" cy="3566160"/>
          </a:xfrm>
          <a:prstGeom prst="roundRect">
            <a:avLst>
              <a:gd name="adj" fmla="val 3077"/>
            </a:avLst>
          </a:prstGeom>
          <a:solidFill>
            <a:srgbClr val="2E5A18"/>
          </a:solidFill>
          <a:ln/>
        </p:spPr>
      </p:sp>
      <p:sp>
        <p:nvSpPr>
          <p:cNvPr id="18" name="Shape 16"/>
          <p:cNvSpPr/>
          <p:nvPr/>
        </p:nvSpPr>
        <p:spPr>
          <a:xfrm>
            <a:off x="6263640" y="2606040"/>
            <a:ext cx="5349240" cy="3566160"/>
          </a:xfrm>
          <a:prstGeom prst="roundRect">
            <a:avLst>
              <a:gd name="adj" fmla="val 3077"/>
            </a:avLst>
          </a:prstGeom>
          <a:solidFill>
            <a:srgbClr val="4A7A2E"/>
          </a:solidFill>
          <a:ln w="15875">
            <a:solidFill>
              <a:srgbClr val="2E5A1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27889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🌱  IEPrep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37960" y="3383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8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49440" y="3346704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Spirals multiple standards across a week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7960" y="40416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8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49440" y="4005072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Differentiates per disability &amp; live IEP data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470001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8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949440" y="466344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Auto-builds themed Smart Board decks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37960" y="5358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8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49440" y="5321808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trials and recommends next steps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4A7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7A5C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five-step walkthrough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901952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an empty screen to a class-ready slide deck in minutes.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" y="2596896"/>
            <a:ext cx="1925726" cy="3520440"/>
          </a:xfrm>
          <a:prstGeom prst="roundRect">
            <a:avLst>
              <a:gd name="adj" fmla="val 5698"/>
            </a:avLst>
          </a:prstGeom>
          <a:solidFill>
            <a:srgbClr val="D9C9A8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514600"/>
            <a:ext cx="1925726" cy="3520440"/>
          </a:xfrm>
          <a:prstGeom prst="roundRect">
            <a:avLst>
              <a:gd name="adj" fmla="val 5698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455" y="2743200"/>
            <a:ext cx="768096" cy="768096"/>
          </a:xfrm>
          <a:prstGeom prst="ellipse">
            <a:avLst/>
          </a:prstGeom>
          <a:solidFill>
            <a:srgbClr val="C85C7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3232" y="3657600"/>
            <a:ext cx="159654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a class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389120"/>
            <a:ext cx="155996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'8th Grade ELA', add students with their disability, reading level &amp; accommodations.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04134" y="2596896"/>
            <a:ext cx="1925726" cy="3520440"/>
          </a:xfrm>
          <a:prstGeom prst="roundRect">
            <a:avLst>
              <a:gd name="adj" fmla="val 5698"/>
            </a:avLst>
          </a:prstGeom>
          <a:solidFill>
            <a:srgbClr val="D9C9A8"/>
          </a:solidFill>
          <a:ln/>
        </p:spPr>
      </p:sp>
      <p:sp>
        <p:nvSpPr>
          <p:cNvPr id="12" name="Shape 10"/>
          <p:cNvSpPr/>
          <p:nvPr/>
        </p:nvSpPr>
        <p:spPr>
          <a:xfrm>
            <a:off x="2840126" y="2514600"/>
            <a:ext cx="1925726" cy="3520440"/>
          </a:xfrm>
          <a:prstGeom prst="roundRect">
            <a:avLst>
              <a:gd name="adj" fmla="val 5698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8942" y="2743200"/>
            <a:ext cx="768096" cy="768096"/>
          </a:xfrm>
          <a:prstGeom prst="ellipse">
            <a:avLst/>
          </a:prstGeom>
          <a:solidFill>
            <a:srgbClr val="C85C7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004718" y="3657600"/>
            <a:ext cx="159654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 for a lesson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23006" y="4389120"/>
            <a:ext cx="155996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pulls the whole roster into the generator — grade, standards focus, every accommodation.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195621" y="2596896"/>
            <a:ext cx="1925726" cy="3520440"/>
          </a:xfrm>
          <a:prstGeom prst="roundRect">
            <a:avLst>
              <a:gd name="adj" fmla="val 5698"/>
            </a:avLst>
          </a:prstGeom>
          <a:solidFill>
            <a:srgbClr val="D9C9A8"/>
          </a:solidFill>
          <a:ln/>
        </p:spPr>
      </p:sp>
      <p:sp>
        <p:nvSpPr>
          <p:cNvPr id="17" name="Shape 15"/>
          <p:cNvSpPr/>
          <p:nvPr/>
        </p:nvSpPr>
        <p:spPr>
          <a:xfrm>
            <a:off x="5131613" y="2514600"/>
            <a:ext cx="1925726" cy="3520440"/>
          </a:xfrm>
          <a:prstGeom prst="roundRect">
            <a:avLst>
              <a:gd name="adj" fmla="val 5698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10428" y="2743200"/>
            <a:ext cx="768096" cy="768096"/>
          </a:xfrm>
          <a:prstGeom prst="ellipse">
            <a:avLst/>
          </a:prstGeom>
          <a:solidFill>
            <a:srgbClr val="C85C7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296205" y="3657600"/>
            <a:ext cx="159654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 SOLs &amp; generate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14493" y="4389120"/>
            <a:ext cx="155996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up to 4 Virginia SOLs. Claude streams a differentiated unit broken into daily sessions.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487107" y="2596896"/>
            <a:ext cx="1925726" cy="3520440"/>
          </a:xfrm>
          <a:prstGeom prst="roundRect">
            <a:avLst>
              <a:gd name="adj" fmla="val 5698"/>
            </a:avLst>
          </a:prstGeom>
          <a:solidFill>
            <a:srgbClr val="D9C9A8"/>
          </a:solidFill>
          <a:ln/>
        </p:spPr>
      </p:sp>
      <p:sp>
        <p:nvSpPr>
          <p:cNvPr id="22" name="Shape 20"/>
          <p:cNvSpPr/>
          <p:nvPr/>
        </p:nvSpPr>
        <p:spPr>
          <a:xfrm>
            <a:off x="7423099" y="2514600"/>
            <a:ext cx="1925726" cy="3520440"/>
          </a:xfrm>
          <a:prstGeom prst="roundRect">
            <a:avLst>
              <a:gd name="adj" fmla="val 5698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01914" y="2743200"/>
            <a:ext cx="768096" cy="768096"/>
          </a:xfrm>
          <a:prstGeom prst="ellipse">
            <a:avLst/>
          </a:prstGeom>
          <a:solidFill>
            <a:srgbClr val="C85C7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587691" y="3657600"/>
            <a:ext cx="159654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a day's slides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605979" y="4389120"/>
            <a:ext cx="155996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day → a themed Smart Board deck appears: hook, targets, quiz, exit ticket.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778594" y="2596896"/>
            <a:ext cx="1925726" cy="3520440"/>
          </a:xfrm>
          <a:prstGeom prst="roundRect">
            <a:avLst>
              <a:gd name="adj" fmla="val 5698"/>
            </a:avLst>
          </a:prstGeom>
          <a:solidFill>
            <a:srgbClr val="D9C9A8"/>
          </a:solidFill>
          <a:ln/>
        </p:spPr>
      </p:sp>
      <p:sp>
        <p:nvSpPr>
          <p:cNvPr id="27" name="Shape 25"/>
          <p:cNvSpPr/>
          <p:nvPr/>
        </p:nvSpPr>
        <p:spPr>
          <a:xfrm>
            <a:off x="9714586" y="2514600"/>
            <a:ext cx="1925726" cy="3520440"/>
          </a:xfrm>
          <a:prstGeom prst="roundRect">
            <a:avLst>
              <a:gd name="adj" fmla="val 5698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293401" y="2743200"/>
            <a:ext cx="768096" cy="768096"/>
          </a:xfrm>
          <a:prstGeom prst="ellipse">
            <a:avLst/>
          </a:prstGeom>
          <a:solidFill>
            <a:srgbClr val="C85C7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9879178" y="3657600"/>
            <a:ext cx="159654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the goals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897466" y="4389120"/>
            <a:ext cx="1559966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trial data on the Goal Tracker and get AI recommendations for what to teach next.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9BC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tip: open the deck, then use the 🎨 palette to switch between 5 classroom themes live.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4A7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7A5C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 &amp; RELEVANCE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it helps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12648" y="2276856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D9C9A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774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👩‍🏫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749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Reclaims hours every week and removes the hardest part of the job — differentiating for everyone at once. Less burnout, more teaching.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76856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D9C9A8"/>
          </a:solidFill>
          <a:ln/>
        </p:spPr>
      </p:sp>
      <p:sp>
        <p:nvSpPr>
          <p:cNvPr id="11" name="Shape 9"/>
          <p:cNvSpPr/>
          <p:nvPr/>
        </p:nvSpPr>
        <p:spPr>
          <a:xfrm>
            <a:off x="4325112" y="219456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5112" y="23774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🧑‍🎓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507992" y="3246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Students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3712" y="3749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learner meets the same grade-level standard through instruction pitched at their level, with their accommodations built 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65592" y="2276856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D9C9A8"/>
          </a:solidFill>
          <a:ln/>
        </p:spPr>
      </p:sp>
      <p:sp>
        <p:nvSpPr>
          <p:cNvPr id="16" name="Shape 14"/>
          <p:cNvSpPr/>
          <p:nvPr/>
        </p:nvSpPr>
        <p:spPr>
          <a:xfrm>
            <a:off x="8101584" y="219456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01584" y="23774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🏫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284464" y="3246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Schools &amp; districts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30184" y="374904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consistent IEP compliance, documented progress data, and a repeatable way to support inclusion classrooms at scale.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" y="5340096"/>
            <a:ext cx="11091672" cy="960120"/>
          </a:xfrm>
          <a:prstGeom prst="roundRect">
            <a:avLst>
              <a:gd name="adj" fmla="val 11429"/>
            </a:avLst>
          </a:prstGeom>
          <a:solidFill>
            <a:srgbClr val="2E5A18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5257800"/>
            <a:ext cx="11091672" cy="960120"/>
          </a:xfrm>
          <a:prstGeom prst="roundRect">
            <a:avLst>
              <a:gd name="adj" fmla="val 11429"/>
            </a:avLst>
          </a:prstGeom>
          <a:solidFill>
            <a:srgbClr val="4A7A2E"/>
          </a:solidFill>
          <a:ln w="15875">
            <a:solidFill>
              <a:srgbClr val="2E5A1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3492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 education is where differentiation matters most — and where teachers have the least time to do it. IEPrep gives that time back.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4A7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7A5C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it could go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12648" y="2368296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D9C9A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860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4871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💾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508760" y="25146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 accounts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508760" y="2944368"/>
            <a:ext cx="248716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sync of classes, goals &amp; plans across devices (Supabase) so data follows the teacher.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2368296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D9C9A8"/>
          </a:solidFill>
          <a:ln/>
        </p:spPr>
      </p:sp>
      <p:sp>
        <p:nvSpPr>
          <p:cNvPr id="11" name="Shape 9"/>
          <p:cNvSpPr/>
          <p:nvPr/>
        </p:nvSpPr>
        <p:spPr>
          <a:xfrm>
            <a:off x="4325112" y="22860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07992" y="24871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285232" y="25146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reminders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285232" y="2944368"/>
            <a:ext cx="248716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nudges when an IEP goal's target date approaches or progress stalls.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65592" y="2368296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D9C9A8"/>
          </a:solidFill>
          <a:ln/>
        </p:spPr>
      </p:sp>
      <p:sp>
        <p:nvSpPr>
          <p:cNvPr id="16" name="Shape 14"/>
          <p:cNvSpPr/>
          <p:nvPr/>
        </p:nvSpPr>
        <p:spPr>
          <a:xfrm>
            <a:off x="8101584" y="22860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4464" y="24871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🗂️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061704" y="25146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standards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061704" y="2944368"/>
            <a:ext cx="248716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 Virginia SOL codes today; any state's standards and grade bands next.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" y="4334256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D9C9A8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519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4531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508760" y="4480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reports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508760" y="4910328"/>
            <a:ext cx="248716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parent &amp; IEP-meeting summaries generated from logged trial data.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0" y="4334256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D9C9A8"/>
          </a:solidFill>
          <a:ln/>
        </p:spPr>
      </p:sp>
      <p:sp>
        <p:nvSpPr>
          <p:cNvPr id="26" name="Shape 24"/>
          <p:cNvSpPr/>
          <p:nvPr/>
        </p:nvSpPr>
        <p:spPr>
          <a:xfrm>
            <a:off x="4325112" y="42519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07992" y="44531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🎥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285232" y="4480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Richer slides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285232" y="4910328"/>
            <a:ext cx="248716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timers, videos and printable student handouts straight from a day's deck.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65592" y="4334256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D9C9A8"/>
          </a:solidFill>
          <a:ln/>
        </p:spPr>
      </p:sp>
      <p:sp>
        <p:nvSpPr>
          <p:cNvPr id="31" name="Shape 29"/>
          <p:cNvSpPr/>
          <p:nvPr/>
        </p:nvSpPr>
        <p:spPr>
          <a:xfrm>
            <a:off x="8101584" y="42519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DF6EC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84464" y="44531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9061704" y="4480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Co-teaching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061704" y="4910328"/>
            <a:ext cx="248716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classes so general-ed and special-ed teachers plan together.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4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C8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SCORES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the rubric — and for real classrooms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12648" y="2048256"/>
            <a:ext cx="11091672" cy="804672"/>
          </a:xfrm>
          <a:prstGeom prst="roundRect">
            <a:avLst>
              <a:gd name="adj" fmla="val 13636"/>
            </a:avLst>
          </a:prstGeom>
          <a:solidFill>
            <a:srgbClr val="D9C9A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965960"/>
            <a:ext cx="11091672" cy="804672"/>
          </a:xfrm>
          <a:prstGeom prst="roundRect">
            <a:avLst>
              <a:gd name="adj" fmla="val 13636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2075688"/>
            <a:ext cx="914400" cy="585216"/>
          </a:xfrm>
          <a:prstGeom prst="roundRect">
            <a:avLst>
              <a:gd name="adj" fmla="val 15625"/>
            </a:avLst>
          </a:prstGeom>
          <a:solidFill>
            <a:srgbClr val="4A7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2057400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 &amp; Relevance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257800" y="2057400"/>
            <a:ext cx="6217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overworked special-ed teachers hours back and reaches every learner at their level.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" y="2944368"/>
            <a:ext cx="11091672" cy="804672"/>
          </a:xfrm>
          <a:prstGeom prst="roundRect">
            <a:avLst>
              <a:gd name="adj" fmla="val 13636"/>
            </a:avLst>
          </a:prstGeom>
          <a:solidFill>
            <a:srgbClr val="D9C9A8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862072"/>
            <a:ext cx="11091672" cy="804672"/>
          </a:xfrm>
          <a:prstGeom prst="roundRect">
            <a:avLst>
              <a:gd name="adj" fmla="val 13636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971800"/>
            <a:ext cx="914400" cy="585216"/>
          </a:xfrm>
          <a:prstGeom prst="roundRect">
            <a:avLst>
              <a:gd name="adj" fmla="val 15625"/>
            </a:avLst>
          </a:prstGeom>
          <a:solidFill>
            <a:srgbClr val="4A7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828800" y="2953512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Innovation &amp; Creativity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57800" y="2953512"/>
            <a:ext cx="6217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follows the teacher to the 'last mile' — past the plan, into themed Smart Board decks.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" y="3840480"/>
            <a:ext cx="11091672" cy="804672"/>
          </a:xfrm>
          <a:prstGeom prst="roundRect">
            <a:avLst>
              <a:gd name="adj" fmla="val 13636"/>
            </a:avLst>
          </a:prstGeom>
          <a:solidFill>
            <a:srgbClr val="D9C9A8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758184"/>
            <a:ext cx="11091672" cy="804672"/>
          </a:xfrm>
          <a:prstGeom prst="roundRect">
            <a:avLst>
              <a:gd name="adj" fmla="val 13636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867912"/>
            <a:ext cx="914400" cy="585216"/>
          </a:xfrm>
          <a:prstGeom prst="roundRect">
            <a:avLst>
              <a:gd name="adj" fmla="val 15625"/>
            </a:avLst>
          </a:prstGeom>
          <a:solidFill>
            <a:srgbClr val="4A7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828800" y="3849624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Functionality &amp; Demo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57800" y="3849624"/>
            <a:ext cx="6217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working app: classes → differentiated plan → per-day slides → goal tracking.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" y="4736592"/>
            <a:ext cx="11091672" cy="804672"/>
          </a:xfrm>
          <a:prstGeom prst="roundRect">
            <a:avLst>
              <a:gd name="adj" fmla="val 13636"/>
            </a:avLst>
          </a:prstGeom>
          <a:solidFill>
            <a:srgbClr val="D9C9A8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4654296"/>
            <a:ext cx="11091672" cy="804672"/>
          </a:xfrm>
          <a:prstGeom prst="roundRect">
            <a:avLst>
              <a:gd name="adj" fmla="val 13636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764024"/>
            <a:ext cx="914400" cy="585216"/>
          </a:xfrm>
          <a:prstGeom prst="roundRect">
            <a:avLst>
              <a:gd name="adj" fmla="val 15625"/>
            </a:avLst>
          </a:prstGeom>
          <a:solidFill>
            <a:srgbClr val="4A7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828800" y="4745736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Experience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257800" y="4745736"/>
            <a:ext cx="6217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warm, intuitive 'Garden Grove' interface; load a class and present in a few clicks.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2648" y="5632704"/>
            <a:ext cx="11091672" cy="804672"/>
          </a:xfrm>
          <a:prstGeom prst="roundRect">
            <a:avLst>
              <a:gd name="adj" fmla="val 13636"/>
            </a:avLst>
          </a:prstGeom>
          <a:solidFill>
            <a:srgbClr val="D9C9A8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5550408"/>
            <a:ext cx="11091672" cy="804672"/>
          </a:xfrm>
          <a:prstGeom prst="roundRect">
            <a:avLst>
              <a:gd name="adj" fmla="val 13636"/>
            </a:avLst>
          </a:prstGeom>
          <a:solidFill>
            <a:srgbClr val="FFFDF7"/>
          </a:solidFill>
          <a:ln w="15875">
            <a:solidFill>
              <a:srgbClr val="D9C9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5660136"/>
            <a:ext cx="914400" cy="585216"/>
          </a:xfrm>
          <a:prstGeom prst="roundRect">
            <a:avLst>
              <a:gd name="adj" fmla="val 15625"/>
            </a:avLst>
          </a:prstGeom>
          <a:solidFill>
            <a:srgbClr val="4A7A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828800" y="5641848"/>
            <a:ext cx="3383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7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 Quality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57800" y="5641848"/>
            <a:ext cx="62179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story: problem → AI solution → live demo → impact, mirrored in this deck.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7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937760"/>
            <a:ext cx="10972800" cy="3657600"/>
          </a:xfrm>
          <a:prstGeom prst="ellipse">
            <a:avLst/>
          </a:prstGeom>
          <a:solidFill>
            <a:srgbClr val="2E5A18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0" y="5394960"/>
            <a:ext cx="11887200" cy="3657600"/>
          </a:xfrm>
          <a:prstGeom prst="ellipse">
            <a:avLst/>
          </a:prstGeom>
          <a:solidFill>
            <a:srgbClr val="234A12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921240" y="640080"/>
            <a:ext cx="1371600" cy="1371600"/>
          </a:xfrm>
          <a:prstGeom prst="ellipse">
            <a:avLst/>
          </a:prstGeom>
          <a:solidFill>
            <a:srgbClr val="F5C842">
              <a:alpha val="9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32870" y="1325880"/>
            <a:ext cx="342900" cy="0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61701" y="1980541"/>
            <a:ext cx="242467" cy="242467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07040" y="2251710"/>
            <a:ext cx="0" cy="342900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52379" y="1980541"/>
            <a:ext cx="-242467" cy="242467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81210" y="1325880"/>
            <a:ext cx="-342900" cy="0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52379" y="671219"/>
            <a:ext cx="-242467" cy="-242467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07040" y="400050"/>
            <a:ext cx="0" cy="-342900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261701" y="671219"/>
            <a:ext cx="242467" cy="-242467"/>
          </a:xfrm>
          <a:prstGeom prst="line">
            <a:avLst/>
          </a:prstGeom>
          <a:noFill/>
          <a:ln w="25400">
            <a:solidFill>
              <a:srgbClr val="F5C842">
                <a:alpha val="9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760720"/>
            <a:ext cx="0" cy="457200"/>
          </a:xfrm>
          <a:prstGeom prst="line">
            <a:avLst/>
          </a:prstGeom>
          <a:noFill/>
          <a:ln w="25400">
            <a:solidFill>
              <a:srgbClr val="D6EB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5559552"/>
            <a:ext cx="219456" cy="219456"/>
          </a:xfrm>
          <a:prstGeom prst="ellipse">
            <a:avLst/>
          </a:prstGeom>
          <a:solidFill>
            <a:srgbClr val="F5C4D1"/>
          </a:solidFill>
          <a:ln/>
        </p:spPr>
      </p:sp>
      <p:sp>
        <p:nvSpPr>
          <p:cNvPr id="15" name="Shape 13"/>
          <p:cNvSpPr/>
          <p:nvPr/>
        </p:nvSpPr>
        <p:spPr>
          <a:xfrm>
            <a:off x="1371600" y="5897880"/>
            <a:ext cx="0" cy="457200"/>
          </a:xfrm>
          <a:prstGeom prst="line">
            <a:avLst/>
          </a:prstGeom>
          <a:noFill/>
          <a:ln w="25400">
            <a:solidFill>
              <a:srgbClr val="D6EB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61872" y="5696712"/>
            <a:ext cx="219456" cy="219456"/>
          </a:xfrm>
          <a:prstGeom prst="ellipse">
            <a:avLst/>
          </a:prstGeom>
          <a:solidFill>
            <a:srgbClr val="F5C842"/>
          </a:solidFill>
          <a:ln/>
        </p:spPr>
      </p:sp>
      <p:sp>
        <p:nvSpPr>
          <p:cNvPr id="17" name="Shape 15"/>
          <p:cNvSpPr/>
          <p:nvPr/>
        </p:nvSpPr>
        <p:spPr>
          <a:xfrm>
            <a:off x="1828800" y="5806440"/>
            <a:ext cx="0" cy="457200"/>
          </a:xfrm>
          <a:prstGeom prst="line">
            <a:avLst/>
          </a:prstGeom>
          <a:noFill/>
          <a:ln w="25400">
            <a:solidFill>
              <a:srgbClr val="D6EBB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19072" y="5605272"/>
            <a:ext cx="219456" cy="219456"/>
          </a:xfrm>
          <a:prstGeom prst="ellipse">
            <a:avLst/>
          </a:prstGeom>
          <a:solidFill>
            <a:srgbClr val="FFFDF7"/>
          </a:solidFill>
          <a:ln/>
        </p:spPr>
      </p:sp>
      <p:sp>
        <p:nvSpPr>
          <p:cNvPr id="19" name="Text 17"/>
          <p:cNvSpPr/>
          <p:nvPr/>
        </p:nvSpPr>
        <p:spPr>
          <a:xfrm>
            <a:off x="5449824" y="137160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🌱</a:t>
            </a:r>
            <a:endParaRPr lang="en-US" sz="6000" dirty="0"/>
          </a:p>
        </p:txBody>
      </p:sp>
      <p:sp>
        <p:nvSpPr>
          <p:cNvPr id="20" name="Text 18"/>
          <p:cNvSpPr/>
          <p:nvPr/>
        </p:nvSpPr>
        <p:spPr>
          <a:xfrm>
            <a:off x="914400" y="27432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 the standard. Grow every learner.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D6E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IEPrep — differentiated lessons, slides &amp; IEP tracking, powered by Claude.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5C8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  ·  Live demo ready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IEPrep — Pitch Deck</dc:title>
  <dc:subject>PptxGenJS Presentation</dc:subject>
  <dc:creator>IEPrep</dc:creator>
  <cp:lastModifiedBy>IEPrep</cp:lastModifiedBy>
  <cp:revision>1</cp:revision>
  <dcterms:created xsi:type="dcterms:W3CDTF">2026-06-14T21:35:45Z</dcterms:created>
  <dcterms:modified xsi:type="dcterms:W3CDTF">2026-06-14T21:35:45Z</dcterms:modified>
</cp:coreProperties>
</file>